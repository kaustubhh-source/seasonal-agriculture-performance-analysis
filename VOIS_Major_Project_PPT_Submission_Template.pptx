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0" r:id="rId11"/>
    <p:sldId id="345" r:id="rId12"/>
    <p:sldId id="346" r:id="rId13"/>
    <p:sldId id="341"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47" d="100"/>
          <a:sy n="47" d="100"/>
        </p:scale>
        <p:origin x="53" y="82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6" y="3583914"/>
            <a:ext cx="9268143" cy="861497"/>
          </a:xfrm>
        </p:spPr>
        <p:txBody>
          <a:bodyPr vert="horz" lIns="91440" tIns="45720" rIns="91440" bIns="45720" rtlCol="0" anchor="t">
            <a:normAutofit/>
          </a:bodyPr>
          <a:lstStyle/>
          <a:p>
            <a:r>
              <a:rPr lang="en-US" b="0" dirty="0">
                <a:solidFill>
                  <a:schemeClr val="tx1"/>
                </a:solidFill>
              </a:rPr>
              <a:t>Student Name:- Kaustubh Vikas Shinde </a:t>
            </a:r>
            <a:endParaRPr lang="en-IN" b="0" dirty="0">
              <a:solidFill>
                <a:schemeClr val="tx1"/>
              </a:solidFill>
            </a:endParaRPr>
          </a:p>
          <a:p>
            <a:r>
              <a:rPr lang="en-US" b="0" dirty="0">
                <a:solidFill>
                  <a:schemeClr val="tx1"/>
                </a:solidFill>
              </a:rPr>
              <a:t>College Name- Ng Acharya &amp; Dk Marathe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657622" cy="743448"/>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592797"/>
            <a:ext cx="5443394" cy="369332"/>
          </a:xfrm>
          <a:prstGeom prst="rect">
            <a:avLst/>
          </a:prstGeom>
          <a:noFill/>
        </p:spPr>
        <p:txBody>
          <a:bodyPr wrap="square" rtlCol="0">
            <a:spAutoFit/>
          </a:bodyPr>
          <a:lstStyle/>
          <a:p>
            <a:r>
              <a:rPr lang="en-US" b="1" dirty="0"/>
              <a:t>AICTE STU ID : </a:t>
            </a:r>
            <a:r>
              <a:rPr lang="en-IN" dirty="0"/>
              <a:t>STU6a22f975a6c2d1780676981</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IN" sz="2200" b="0" dirty="0"/>
              <a:t>• Comprehensive exploratory analysis of 4,000 agricultural farm records spanning 8 Indian states across Kharif, Rabi, and Zaid seasons. </a:t>
            </a:r>
            <a:br>
              <a:rPr lang="en-IN" sz="2200" b="0" dirty="0"/>
            </a:br>
            <a:r>
              <a:rPr lang="en-IN" sz="2200" b="0" dirty="0"/>
              <a:t>• Implemented robust missing data imputation using crop- and season-specific medians for environmental variables and crop yields. </a:t>
            </a:r>
            <a:br>
              <a:rPr lang="en-IN" sz="2200" b="0" dirty="0"/>
            </a:br>
            <a:r>
              <a:rPr lang="en-IN" sz="2200" b="0" dirty="0"/>
              <a:t>• Evaluated water-use efficiency and economic profitability across 4 irrigation systems (Drip, Sprinkler, Flood, Rainfed). </a:t>
            </a:r>
            <a:br>
              <a:rPr lang="en-IN" sz="2200" b="0" dirty="0"/>
            </a:br>
            <a:r>
              <a:rPr lang="en-IN" sz="2200" b="0" dirty="0"/>
              <a:t>• Derived evidence-based seasonal planning guidelines to minimize climate risk and enhance farmer margins. </a:t>
            </a:r>
            <a:br>
              <a:rPr lang="en-IN"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IN" b="1" dirty="0"/>
              <a:t>1. Farmers &amp; Agricultural Collectives (FPOs):</a:t>
            </a:r>
            <a:r>
              <a:rPr lang="en-IN" dirty="0"/>
              <a:t> Informed crop selection and clear ROI evidence for transitioning to modern micro-irrigation. </a:t>
            </a:r>
          </a:p>
          <a:p>
            <a:r>
              <a:rPr lang="en-IN" b="1" dirty="0"/>
              <a:t>2. Agricultural Policymakers (NABARD / Ministry of Agriculture):</a:t>
            </a:r>
            <a:r>
              <a:rPr lang="en-IN" dirty="0"/>
              <a:t> Targeted subsidy disbursement for irrigation during high-risk seasons (Zaid) and seasonal buffer stocking. </a:t>
            </a:r>
          </a:p>
          <a:p>
            <a:r>
              <a:rPr lang="en-IN" b="1" dirty="0"/>
              <a:t>3. Agri-Tech Firms &amp; Supply Chain Planners:</a:t>
            </a:r>
            <a:r>
              <a:rPr lang="en-IN" dirty="0"/>
              <a:t> Accurate demand forecasting for seasonal inputs (fertilizers, pesticides) and cold storage optimization.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r>
              <a:rPr lang="en-IN" dirty="0"/>
              <a:t>• </a:t>
            </a:r>
            <a:r>
              <a:rPr lang="en-IN" b="1" dirty="0"/>
              <a:t>Environment:</a:t>
            </a:r>
            <a:r>
              <a:rPr lang="en-IN" dirty="0"/>
              <a:t> Python 3.10+ in Jupyter Notebook </a:t>
            </a:r>
          </a:p>
          <a:p>
            <a:r>
              <a:rPr lang="en-IN" dirty="0"/>
              <a:t>• </a:t>
            </a:r>
            <a:r>
              <a:rPr lang="en-IN" b="1" dirty="0"/>
              <a:t>Data Manipulation:</a:t>
            </a:r>
            <a:r>
              <a:rPr lang="en-IN" dirty="0"/>
              <a:t> Pandas, NumPy </a:t>
            </a:r>
          </a:p>
          <a:p>
            <a:r>
              <a:rPr lang="en-IN" dirty="0"/>
              <a:t>• </a:t>
            </a:r>
            <a:r>
              <a:rPr lang="en-IN" b="1" dirty="0"/>
              <a:t>Statistical Data Visualization:</a:t>
            </a:r>
            <a:r>
              <a:rPr lang="en-IN" dirty="0"/>
              <a:t> Matplotlib, Seaborn </a:t>
            </a:r>
          </a:p>
          <a:p>
            <a:r>
              <a:rPr lang="en-IN" dirty="0"/>
              <a:t>• </a:t>
            </a:r>
            <a:r>
              <a:rPr lang="en-IN" b="1" dirty="0"/>
              <a:t>Version Control:</a:t>
            </a:r>
            <a:r>
              <a:rPr lang="en-IN" dirty="0"/>
              <a:t> Git, GitHub</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0"/>
            <a:ext cx="3343561" cy="4691591"/>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t>• </a:t>
            </a:r>
            <a:r>
              <a:rPr lang="en-IN" b="1" dirty="0"/>
              <a:t>Kharif Dominance:</a:t>
            </a:r>
            <a:r>
              <a:rPr lang="en-IN" dirty="0"/>
              <a:t> Delivers highest mean yield (5.64 t/ha) and net profit (₹1,78,915), aided by monsoon rainfall (mean: 852.1 mm). </a:t>
            </a:r>
          </a:p>
          <a:p>
            <a:r>
              <a:rPr lang="en-IN" dirty="0"/>
              <a:t>• </a:t>
            </a:r>
            <a:r>
              <a:rPr lang="en-IN" b="1" dirty="0"/>
              <a:t>Rabi Stability:</a:t>
            </a:r>
            <a:r>
              <a:rPr lang="en-IN" dirty="0"/>
              <a:t> Moderate yield (5.08 t/ha) and stable returns (₹87,689) in temperate conditions (mean: 23.5°C). </a:t>
            </a:r>
          </a:p>
          <a:p>
            <a:r>
              <a:rPr lang="en-IN" dirty="0"/>
              <a:t>• </a:t>
            </a:r>
            <a:r>
              <a:rPr lang="en-IN" b="1" dirty="0"/>
              <a:t>Zaid Deficit:</a:t>
            </a:r>
            <a:r>
              <a:rPr lang="en-IN" dirty="0"/>
              <a:t> Faces an average net loss of -₹24,805 per farm due to thermal stress (mean: 31.0°C) and water shortage.</a:t>
            </a:r>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AE7EFDE-8B58-B937-A91C-BB2FF7DA696F}"/>
              </a:ext>
            </a:extLst>
          </p:cNvPr>
          <p:cNvPicPr>
            <a:picLocks noChangeAspect="1"/>
          </p:cNvPicPr>
          <p:nvPr/>
        </p:nvPicPr>
        <p:blipFill>
          <a:blip r:embed="rId3"/>
          <a:stretch>
            <a:fillRect/>
          </a:stretch>
        </p:blipFill>
        <p:spPr>
          <a:xfrm>
            <a:off x="3657600" y="370589"/>
            <a:ext cx="8532897" cy="629437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20982" y="1195471"/>
            <a:ext cx="4275138" cy="5703894"/>
          </a:xfrm>
        </p:spPr>
        <p:txBody>
          <a:bodyPr>
            <a:normAutofit/>
          </a:bodyPr>
          <a:lstStyle/>
          <a:p>
            <a:r>
              <a:rPr lang="en-IN" dirty="0"/>
              <a:t>• </a:t>
            </a:r>
            <a:r>
              <a:rPr lang="en-IN" b="1" dirty="0"/>
              <a:t>Drip Superiority:</a:t>
            </a:r>
            <a:r>
              <a:rPr lang="en-IN" dirty="0"/>
              <a:t> The only irrigation method maintaining positive profitability in all three seasons (Kharif: ₹3.17L, Rabi: ₹1.88L, Zaid: +₹21.3k). </a:t>
            </a:r>
          </a:p>
          <a:p>
            <a:r>
              <a:rPr lang="en-IN" dirty="0"/>
              <a:t>• </a:t>
            </a:r>
            <a:r>
              <a:rPr lang="en-IN" b="1" dirty="0"/>
              <a:t>Flood Irrigation Pitfalls:</a:t>
            </a:r>
            <a:r>
              <a:rPr lang="en-IN" dirty="0"/>
              <a:t> Severe losses in Zaid (-₹69.8k) due to high evaporative loss. </a:t>
            </a:r>
          </a:p>
          <a:p>
            <a:r>
              <a:rPr lang="en-IN" dirty="0"/>
              <a:t>• </a:t>
            </a:r>
            <a:r>
              <a:rPr lang="en-IN" b="1" dirty="0"/>
              <a:t>Rainfed Vulnerability:</a:t>
            </a:r>
            <a:r>
              <a:rPr lang="en-IN" dirty="0"/>
              <a:t> Extreme drop in profitability during dry periods (-₹79.5k in Zaid). </a:t>
            </a:r>
          </a:p>
          <a:p>
            <a:pPr marL="0" indent="0">
              <a:buNone/>
            </a:pPr>
            <a:endParaRPr lang="en-IN" dirty="0"/>
          </a:p>
        </p:txBody>
      </p:sp>
      <p:pic>
        <p:nvPicPr>
          <p:cNvPr id="3" name="Picture 2">
            <a:extLst>
              <a:ext uri="{FF2B5EF4-FFF2-40B4-BE49-F238E27FC236}">
                <a16:creationId xmlns:a16="http://schemas.microsoft.com/office/drawing/2014/main" id="{9004880D-6249-3032-5AD6-8B0E99E02A9F}"/>
              </a:ext>
            </a:extLst>
          </p:cNvPr>
          <p:cNvPicPr>
            <a:picLocks noChangeAspect="1"/>
          </p:cNvPicPr>
          <p:nvPr/>
        </p:nvPicPr>
        <p:blipFill>
          <a:blip r:embed="rId3"/>
          <a:stretch>
            <a:fillRect/>
          </a:stretch>
        </p:blipFill>
        <p:spPr>
          <a:xfrm>
            <a:off x="4484114" y="0"/>
            <a:ext cx="7658541" cy="685799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2"/>
            <a:ext cx="3538530" cy="5040228"/>
          </a:xfrm>
        </p:spPr>
        <p:txBody>
          <a:bodyPr>
            <a:normAutofit/>
          </a:bodyPr>
          <a:lstStyle/>
          <a:p>
            <a:r>
              <a:rPr lang="en-IN" dirty="0"/>
              <a:t>• </a:t>
            </a:r>
            <a:r>
              <a:rPr lang="en-IN" b="1" dirty="0"/>
              <a:t>Kharif Pest Risk:</a:t>
            </a:r>
            <a:r>
              <a:rPr lang="en-IN" dirty="0"/>
              <a:t> Warmth combined with high humidity (71.8%) raises disease/pest risk scores to 54.5% (peaking at 88.9%). </a:t>
            </a:r>
          </a:p>
          <a:p>
            <a:r>
              <a:rPr lang="en-IN" dirty="0"/>
              <a:t>• </a:t>
            </a:r>
            <a:r>
              <a:rPr lang="en-IN" b="1" dirty="0"/>
              <a:t>Rabi </a:t>
            </a:r>
            <a:r>
              <a:rPr lang="en-IN" b="1" dirty="0" err="1"/>
              <a:t>Favorable</a:t>
            </a:r>
            <a:r>
              <a:rPr lang="en-IN" b="1" dirty="0"/>
              <a:t> Window:</a:t>
            </a:r>
            <a:r>
              <a:rPr lang="en-IN" dirty="0"/>
              <a:t> Lowest overall disease/pest hazard (40.5%), lowering pesticide requirement. </a:t>
            </a:r>
          </a:p>
          <a:p>
            <a:r>
              <a:rPr lang="en-IN" dirty="0"/>
              <a:t>• </a:t>
            </a:r>
            <a:r>
              <a:rPr lang="en-IN" b="1" dirty="0"/>
              <a:t>Zaid Heat:</a:t>
            </a:r>
            <a:r>
              <a:rPr lang="en-IN" dirty="0"/>
              <a:t> Extreme daytime heat (&gt;38°C) acts as the primary productivity inhibitor. </a:t>
            </a:r>
          </a:p>
          <a:p>
            <a:pPr marL="0" indent="0">
              <a:buNone/>
            </a:pPr>
            <a:endParaRPr lang="en-IN" dirty="0"/>
          </a:p>
        </p:txBody>
      </p:sp>
      <p:pic>
        <p:nvPicPr>
          <p:cNvPr id="6" name="Picture 5">
            <a:extLst>
              <a:ext uri="{FF2B5EF4-FFF2-40B4-BE49-F238E27FC236}">
                <a16:creationId xmlns:a16="http://schemas.microsoft.com/office/drawing/2014/main" id="{33BC41C8-2023-B4C3-3114-ED33233A7A93}"/>
              </a:ext>
            </a:extLst>
          </p:cNvPr>
          <p:cNvPicPr>
            <a:picLocks noChangeAspect="1"/>
          </p:cNvPicPr>
          <p:nvPr/>
        </p:nvPicPr>
        <p:blipFill>
          <a:blip r:embed="rId3"/>
          <a:stretch>
            <a:fillRect/>
          </a:stretch>
        </p:blipFill>
        <p:spPr>
          <a:xfrm>
            <a:off x="4150725" y="244929"/>
            <a:ext cx="8041274" cy="661307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2491207" cy="4300364"/>
          </a:xfrm>
        </p:spPr>
        <p:txBody>
          <a:bodyPr>
            <a:normAutofit lnSpcReduction="10000"/>
          </a:bodyPr>
          <a:lstStyle/>
          <a:p>
            <a:r>
              <a:rPr lang="en-IN" dirty="0"/>
              <a:t>• </a:t>
            </a:r>
            <a:r>
              <a:rPr lang="en-IN" b="1" dirty="0"/>
              <a:t>Cash Crops:</a:t>
            </a:r>
            <a:r>
              <a:rPr lang="en-IN" dirty="0"/>
              <a:t> Sugarcane and Chilli generate substantial net profits across all seasons. </a:t>
            </a:r>
          </a:p>
          <a:p>
            <a:r>
              <a:rPr lang="en-IN" dirty="0"/>
              <a:t>• </a:t>
            </a:r>
            <a:r>
              <a:rPr lang="en-IN" b="1" dirty="0"/>
              <a:t>Food Grains:</a:t>
            </a:r>
            <a:r>
              <a:rPr lang="en-IN" dirty="0"/>
              <a:t> Rice, Wheat, and Maize operate on thin margins, and suffer heavy net losses in Zaid (Rice: -₹2.27L, Maize: -₹1.94L). </a:t>
            </a:r>
          </a:p>
          <a:p>
            <a:pPr marL="0" indent="0">
              <a:buNone/>
            </a:pPr>
            <a:endParaRPr lang="en-IN" dirty="0"/>
          </a:p>
        </p:txBody>
      </p:sp>
      <p:pic>
        <p:nvPicPr>
          <p:cNvPr id="9" name="Picture 8">
            <a:extLst>
              <a:ext uri="{FF2B5EF4-FFF2-40B4-BE49-F238E27FC236}">
                <a16:creationId xmlns:a16="http://schemas.microsoft.com/office/drawing/2014/main" id="{F58EA8FA-7618-45F2-660E-3E6C7318C7C1}"/>
              </a:ext>
            </a:extLst>
          </p:cNvPr>
          <p:cNvPicPr>
            <a:picLocks noChangeAspect="1"/>
          </p:cNvPicPr>
          <p:nvPr/>
        </p:nvPicPr>
        <p:blipFill>
          <a:blip r:embed="rId3"/>
          <a:stretch>
            <a:fillRect/>
          </a:stretch>
        </p:blipFill>
        <p:spPr>
          <a:xfrm>
            <a:off x="3298370" y="0"/>
            <a:ext cx="8893629" cy="6858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6275761" cy="4864172"/>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2000" dirty="0"/>
              <a:t>• </a:t>
            </a:r>
            <a:r>
              <a:rPr lang="en-IN" sz="2000" b="1" dirty="0"/>
              <a:t>Machine Learning Predictive Modeling:</a:t>
            </a:r>
            <a:r>
              <a:rPr lang="en-IN" sz="2000" dirty="0"/>
              <a:t> Deploy XGBoost or Random Forest regressions to predict yield and profit margins based on real-time soil/weather inputs. </a:t>
            </a:r>
          </a:p>
          <a:p>
            <a:pPr algn="l"/>
            <a:r>
              <a:rPr lang="en-IN" sz="2000" dirty="0"/>
              <a:t>• </a:t>
            </a:r>
            <a:r>
              <a:rPr lang="en-IN" sz="2000" b="1" dirty="0"/>
              <a:t>Precision IoT Irrigation:</a:t>
            </a:r>
            <a:r>
              <a:rPr lang="en-IN" sz="2000" dirty="0"/>
              <a:t> Integrate soil-moisture sensor triggers for automated drip cycles to minimize water waste in summer. </a:t>
            </a:r>
          </a:p>
          <a:p>
            <a:pPr algn="l"/>
            <a:r>
              <a:rPr lang="en-IN" sz="2000" dirty="0"/>
              <a:t>• </a:t>
            </a:r>
            <a:r>
              <a:rPr lang="en-IN" sz="2000" b="1" dirty="0"/>
              <a:t>Cloud Analytics Dashboard:</a:t>
            </a:r>
            <a:r>
              <a:rPr lang="en-IN" sz="2000" dirty="0"/>
              <a:t> Build an interactive Streamlit or Power BI dashboard for regional crop planning simulations. </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7745332" cy="666078"/>
          </a:xfrm>
          <a:prstGeom prst="rect">
            <a:avLst/>
          </a:prstGeom>
        </p:spPr>
        <p:txBody>
          <a:bodyPr vert="horz" lIns="91440" tIns="45720" rIns="91440" bIns="45720" rtlCol="0">
            <a:normAutofit fontScale="92500"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GB" sz="2000" dirty="0"/>
              <a:t>https://github.com/kaustubhh-source/Seasonal-Agriculture-Performance-Analysis</a:t>
            </a: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1502229"/>
            <a:ext cx="11340000" cy="9911443"/>
          </a:xfrm>
          <a:prstGeom prst="rect">
            <a:avLst/>
          </a:prstGeom>
        </p:spPr>
        <p:txBody>
          <a:bodyPr anchor="ctr">
            <a:normAutofit/>
          </a:bodyPr>
          <a:lstStyle/>
          <a:p>
            <a:pPr algn="ctr"/>
            <a:r>
              <a:rPr lang="en-US" sz="4800" b="1" dirty="0">
                <a:solidFill>
                  <a:schemeClr val="accent2">
                    <a:lumMod val="60000"/>
                    <a:lumOff val="40000"/>
                  </a:schemeClr>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1390</TotalTime>
  <Words>684</Words>
  <Application>Microsoft Office PowerPoint</Application>
  <PresentationFormat>Widescreen</PresentationFormat>
  <Paragraphs>42</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 Comprehensive exploratory analysis of 4,000 agricultural farm records spanning 8 Indian states across Kharif, Rabi, and Zaid seasons.  • Implemented robust missing data imputation using crop- and season-specific medians for environmental variables and crop yields.  • Evaluated water-use efficiency and economic profitability across 4 irrigation systems (Drip, Sprinkler, Flood, Rainfed).  • Derived evidence-based seasonal planning guidelines to minimize climate risk and enhance farmer margins.  </vt:lpstr>
      <vt:lpstr>WHO ARE THE END USERS?</vt:lpstr>
      <vt:lpstr>Technology Used</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Kaustubhh Shinde</cp:lastModifiedBy>
  <cp:revision>99</cp:revision>
  <dcterms:created xsi:type="dcterms:W3CDTF">2021-07-11T13:13:15Z</dcterms:created>
  <dcterms:modified xsi:type="dcterms:W3CDTF">2026-09-23T14:15:35Z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